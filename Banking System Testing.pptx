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6"/>
  </p:notesMasterIdLst>
  <p:handoutMasterIdLst>
    <p:handoutMasterId r:id="rId27"/>
  </p:handoutMasterIdLst>
  <p:sldIdLst>
    <p:sldId id="256" r:id="rId5"/>
    <p:sldId id="270" r:id="rId6"/>
    <p:sldId id="259" r:id="rId7"/>
    <p:sldId id="272" r:id="rId8"/>
    <p:sldId id="284" r:id="rId9"/>
    <p:sldId id="280" r:id="rId10"/>
    <p:sldId id="271" r:id="rId11"/>
    <p:sldId id="282" r:id="rId12"/>
    <p:sldId id="283" r:id="rId13"/>
    <p:sldId id="273" r:id="rId14"/>
    <p:sldId id="274" r:id="rId15"/>
    <p:sldId id="267" r:id="rId16"/>
    <p:sldId id="285" r:id="rId17"/>
    <p:sldId id="275" r:id="rId18"/>
    <p:sldId id="278" r:id="rId19"/>
    <p:sldId id="286" r:id="rId20"/>
    <p:sldId id="276" r:id="rId21"/>
    <p:sldId id="281" r:id="rId22"/>
    <p:sldId id="279" r:id="rId23"/>
    <p:sldId id="287" r:id="rId24"/>
    <p:sldId id="277" r:id="rId25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328" autoAdjust="0"/>
  </p:normalViewPr>
  <p:slideViewPr>
    <p:cSldViewPr snapToGrid="0">
      <p:cViewPr varScale="1">
        <p:scale>
          <a:sx n="54" d="100"/>
          <a:sy n="54" d="100"/>
        </p:scale>
        <p:origin x="11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99660624-A03B-455B-A569-B12A333759F1}" type="datetime1">
              <a:rPr lang="en-GB" smtClean="0"/>
              <a:t>31/12/2025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BD65BC62-3B36-43F8-8B69-D6E5E743DA3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8B6F264B-E764-41E7-A12B-76DC397CE46F}" type="datetime1">
              <a:rPr lang="en-GB" noProof="0" smtClean="0"/>
              <a:t>31/12/2025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GB"/>
            </a:defPPr>
          </a:lstStyle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GB"/>
            </a:def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E6AEB063-7F11-4E3B-BA52-07405B1C2D9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79ED-EEB8-5441-5DFC-D520FA66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35300-9205-67F9-625E-FC2BD4ED7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3A59D-AC24-7468-F37C-FCFD74211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3D4E3-EEB4-9E05-FE04-A0A36CD90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7689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8027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AF50-5137-2973-DBDC-6CDF55AC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A88E4-0677-769E-5983-57147919B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09EF4-082E-8E2F-8D87-9BA3D04EE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73AD8-889F-136D-0F58-5FC936352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392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0176-6567-527B-B0C8-687AB79E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54FE4-5651-75EE-10F0-5295EC1B8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19DD4-BB6B-8968-5BB9-C2DBDB45F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A92BD-40F0-2929-118B-45EAA40F1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843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5C30-FCA7-B657-5025-D2CF2356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693FC-F5D6-8E6D-76BC-911C2C036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C346F-8F49-CA19-595E-9D547BAE9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4505D-0BDF-108D-FBF8-7877A5562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343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51AD-B7ED-EB27-6C18-569A526B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0AF14-68C1-3070-F634-1F5870AD7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FB757-A2B5-4F7A-E412-9B82CC495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B8BF-2A78-4F4B-F0CB-A291BBE58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3841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0D15-D52F-10EE-8CF5-C5F0466A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2E802-2DEE-2B6B-8541-EEE91A8D4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F9D9E-EF61-FDF7-686C-6B200C8EB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47F4B-E41D-1E90-858E-B7374AB4B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6451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8A20-C9DB-E872-3E7D-755C994E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4BB2C-F4E8-5726-14A7-AB4C27F51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CA521-B6C2-4973-653A-2CB1F670E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548DA-B533-311D-F4E8-068684AB8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123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7B18-8AD0-602E-F00C-E5326FB5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6898D-1E57-CEA7-97BF-C3143019B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0769D-B8EE-B174-1F79-4DD041C9E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F1DDE-C62E-0F6C-9FE6-C37DD93F2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481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5BA2-FE09-A449-710B-EED22CF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0E9FC-F91B-EA9C-9FBC-16F1530A3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C01E4-A9FB-095F-7264-104EAE4D1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4639B-B745-D152-24DE-328E849DC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93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541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B739-112D-8D88-CF09-2B5C2719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23CB6-ED73-2CE7-2330-F68D3B50D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CB576-A513-E129-A786-03C18494F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E6CDE-A81B-CF88-E104-4CE978759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333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473C-92CC-4C06-D2FC-9794D737F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9173B-911A-878D-F402-5F3F07F25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9415B-1BA2-3398-8A62-4DCD67FD7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4FA60-68F2-C5D7-5E5C-74DC36B6B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9898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3F5B-8AD7-3D20-FDD9-C63CFD82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A670E-14C0-B882-E9C5-E101C1BF8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439D7-31BE-D1F9-ED2E-77ABCFE18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9AD69-0C50-D9E6-AF81-4A352A516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7040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6EA14-66F9-C6FC-B262-B6C79BBA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4828-D279-14DC-74BE-EF19D860D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9EB2F-5CAF-BB7A-EDE3-35A8150FE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36F30-DE88-037A-15B1-46585FB09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059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5254-9CED-0C54-0408-F51A12085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DE50A-114D-8BDC-1CE1-50095E1BA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60442-7697-E6E9-D921-4139998E6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45CD7-8D32-A69D-00AF-0F8A832AA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41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59C7-0521-B182-9F5D-2B4683DC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154D4-4C14-2718-2CC3-DAADBA459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4BCAD-1818-A06E-CE0D-918A402C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8DC48-C97D-3207-DB40-BFB41F647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183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30E7-D202-18B2-0CC6-967337EE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B7D08-6248-F193-7B5F-5CB5D5A07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B97F7-9A1B-E752-8B3F-0D1538A09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2C6D7-AC19-DA37-B934-6180C1D1F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4643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754FE-2D59-7FE1-13D3-D83A194D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5444B-DE71-D5A6-5DA7-03A6E6C4F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60525-F8CB-E9E4-CD77-E6B84638B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448B5-061A-5FBA-3BE0-E00405DE6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0503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DED3-AF1B-0C75-0FBE-4C0E1F1A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ECA4F-4243-71AD-C4CA-F2488B7E0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EB5AA-6157-9FF4-0A9A-E5F922761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CC919-6E2C-8F94-7698-975E99302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6AEB063-7F11-4E3B-BA52-07405B1C2D9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039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noProof="0" dirty="0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lang="en-GB" sz="5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GB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en-GB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FC0C440E-8649-4EAD-8F26-95726E7FF644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en-GB" b="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63095F44-2D57-4226-92AE-B8C741B1B6E6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lang="en-GB" sz="4800" b="0" cap="none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B22E82C6-7598-4783-B9A9-189C2997B099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lang="en-GB" b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lang="en-GB" sz="2800"/>
            </a:lvl1pPr>
            <a:lvl2pPr>
              <a:defRPr lang="en-GB" sz="2400"/>
            </a:lvl2pPr>
            <a:lvl3pPr>
              <a:defRPr lang="en-GB" sz="2000"/>
            </a:lvl3pPr>
            <a:lvl4pPr>
              <a:defRPr lang="en-GB" sz="1800"/>
            </a:lvl4pPr>
            <a:lvl5pPr>
              <a:defRPr lang="en-GB" sz="18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4A32BE4E-0A50-4563-B12C-F060645C70D5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lang="en-GB" b="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lang="en-GB" sz="2800"/>
            </a:lvl1pPr>
            <a:lvl2pPr>
              <a:defRPr lang="en-GB" sz="2800"/>
            </a:lvl2pPr>
            <a:lvl3pPr>
              <a:defRPr lang="en-GB" sz="2800"/>
            </a:lvl3pPr>
            <a:lvl4pPr>
              <a:defRPr lang="en-GB" sz="2800"/>
            </a:lvl4pPr>
            <a:lvl5pPr>
              <a:defRPr lang="en-GB" sz="2800"/>
            </a:lvl5pPr>
          </a:lstStyle>
          <a:p>
            <a:pPr lvl="0" rtl="0"/>
            <a:r>
              <a:rPr lang="en-GB"/>
              <a:t>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337F8F8-A978-4AE7-A082-6F8E05F1EAD9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lang="en-GB"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GB" sz="24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E187BBCB-F5E3-4666-9E27-0F906E35A0D5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en-GB" b="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lang="en-GB" sz="2800"/>
            </a:lvl1pPr>
            <a:lvl2pPr>
              <a:defRPr lang="en-GB" sz="2800"/>
            </a:lvl2pPr>
            <a:lvl3pPr>
              <a:defRPr lang="en-GB" sz="2800"/>
            </a:lvl3pPr>
            <a:lvl4pPr>
              <a:defRPr lang="en-GB" sz="2800"/>
            </a:lvl4pPr>
            <a:lvl5pPr>
              <a:defRPr lang="en-GB" sz="2800"/>
            </a:lvl5pPr>
          </a:lstStyle>
          <a:p>
            <a:pPr lvl="0" rtl="0"/>
            <a:r>
              <a:rPr lang="en-GB"/>
              <a:t>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D0A61031-1F31-481A-A234-C112ADB88E56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lang="en-GB"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  <a:lvl2pPr>
              <a:defRPr lang="en-GB">
                <a:solidFill>
                  <a:schemeClr val="bg1"/>
                </a:solidFill>
              </a:defRPr>
            </a:lvl2pPr>
            <a:lvl3pPr>
              <a:defRPr lang="en-GB">
                <a:solidFill>
                  <a:schemeClr val="bg1"/>
                </a:solidFill>
              </a:defRPr>
            </a:lvl3pPr>
            <a:lvl4pPr>
              <a:defRPr lang="en-GB">
                <a:solidFill>
                  <a:schemeClr val="bg1"/>
                </a:solidFill>
              </a:defRPr>
            </a:lvl4pPr>
            <a:lvl5pPr>
              <a:defRPr lang="en-GB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8E2CC76-FE00-46A8-8052-992F5C05B710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lang="en-GB" b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B90073D4-3D12-4A16-AF4C-7FA54642A339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lang="en-GB" sz="4800" b="0" cap="none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lang="en-GB" sz="2800">
                <a:solidFill>
                  <a:schemeClr val="tx1"/>
                </a:solidFill>
              </a:defRPr>
            </a:lvl1pPr>
            <a:lvl2pPr marL="457200" indent="0">
              <a:buNone/>
              <a:defRPr lang="en-GB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15E32645-67CD-4681-A1EC-AB0A1145F75C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en-GB" b="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en-GB" sz="2000" b="0"/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en-GB" sz="2000" b="0"/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426B9A1E-906D-4DF7-A9FF-25D34F0DB766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en-GB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1FE159B7-7B1F-45A2-922C-7CF1596FBF28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89E72353-2386-4735-B488-27AB52AFD02B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lang="en-GB" sz="4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lang="en-GB" sz="2800"/>
            </a:lvl1pPr>
            <a:lvl2pPr marL="457200" indent="0">
              <a:buNone/>
              <a:defRPr lang="en-GB" sz="1200"/>
            </a:lvl2pPr>
            <a:lvl3pPr marL="914400" indent="0">
              <a:buNone/>
              <a:defRPr lang="en-GB" sz="1000"/>
            </a:lvl3pPr>
            <a:lvl4pPr marL="1371600" indent="0">
              <a:buNone/>
              <a:defRPr lang="en-GB" sz="900"/>
            </a:lvl4pPr>
            <a:lvl5pPr marL="1828800" indent="0">
              <a:buNone/>
              <a:defRPr lang="en-GB" sz="900"/>
            </a:lvl5pPr>
            <a:lvl6pPr marL="2286000" indent="0">
              <a:buNone/>
              <a:defRPr lang="en-GB" sz="900"/>
            </a:lvl6pPr>
            <a:lvl7pPr marL="2743200" indent="0">
              <a:buNone/>
              <a:defRPr lang="en-GB" sz="900"/>
            </a:lvl7pPr>
            <a:lvl8pPr marL="3200400" indent="0">
              <a:buNone/>
              <a:defRPr lang="en-GB" sz="900"/>
            </a:lvl8pPr>
            <a:lvl9pPr marL="3657600" indent="0">
              <a:buNone/>
              <a:defRPr lang="en-GB" sz="9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6A616C76-C49B-44A2-808F-EE210633DCD8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lang="en-GB" sz="4000" b="0" cap="none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GB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lang="en-GB" sz="2800"/>
            </a:lvl1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C6E752BC-5984-4355-8803-B94B9F98A09D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lang="en-GB" sz="4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lang="en-GB" sz="2800"/>
            </a:lvl1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6A5E92B7-6A6D-445C-86C5-47E20779BC37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lang="en-GB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 lang="en-GB"/>
            </a:lvl1pPr>
            <a:lvl2pPr algn="ctr">
              <a:defRPr lang="en-GB"/>
            </a:lvl2pPr>
            <a:lvl3pPr algn="ctr">
              <a:defRPr lang="en-GB"/>
            </a:lvl3pPr>
            <a:lvl4pPr algn="ctr">
              <a:defRPr lang="en-GB"/>
            </a:lvl4pPr>
            <a:lvl5pPr algn="ctr">
              <a:defRPr lang="en-GB"/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65482E65-6810-42FA-868B-326E4EDAF911}" type="datetime1">
              <a:rPr lang="en-GB" noProof="0" smtClean="0"/>
              <a:t>31/12/2025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900">
                <a:solidFill>
                  <a:schemeClr val="tx1"/>
                </a:solidFill>
              </a:defRPr>
            </a:lvl1pPr>
          </a:lstStyle>
          <a:p>
            <a:pPr rtl="0"/>
            <a:fld id="{4B4C344B-111A-47E8-BA1D-8404FA57C294}" type="datetime1">
              <a:rPr lang="en-GB" noProof="0" smtClean="0"/>
              <a:t>31/12/2025</a:t>
            </a:fld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lang="en-GB"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lang="en-GB"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n-GB">
          <a:solidFill>
            <a:schemeClr val="tx2"/>
          </a:solidFill>
        </a:defRPr>
      </a:lvl2pPr>
      <a:lvl3pPr eaLnBrk="1" hangingPunct="1">
        <a:defRPr lang="en-GB">
          <a:solidFill>
            <a:schemeClr val="tx2"/>
          </a:solidFill>
        </a:defRPr>
      </a:lvl3pPr>
      <a:lvl4pPr eaLnBrk="1" hangingPunct="1">
        <a:defRPr lang="en-GB">
          <a:solidFill>
            <a:schemeClr val="tx2"/>
          </a:solidFill>
        </a:defRPr>
      </a:lvl4pPr>
      <a:lvl5pPr eaLnBrk="1" hangingPunct="1">
        <a:defRPr lang="en-GB">
          <a:solidFill>
            <a:schemeClr val="tx2"/>
          </a:solidFill>
        </a:defRPr>
      </a:lvl5pPr>
      <a:lvl6pPr eaLnBrk="1" hangingPunct="1">
        <a:defRPr lang="en-GB">
          <a:solidFill>
            <a:schemeClr val="tx2"/>
          </a:solidFill>
        </a:defRPr>
      </a:lvl6pPr>
      <a:lvl7pPr eaLnBrk="1" hangingPunct="1">
        <a:defRPr lang="en-GB">
          <a:solidFill>
            <a:schemeClr val="tx2"/>
          </a:solidFill>
        </a:defRPr>
      </a:lvl7pPr>
      <a:lvl8pPr eaLnBrk="1" hangingPunct="1">
        <a:defRPr lang="en-GB">
          <a:solidFill>
            <a:schemeClr val="tx2"/>
          </a:solidFill>
        </a:defRPr>
      </a:lvl8pPr>
      <a:lvl9pPr eaLnBrk="1" hangingPunct="1">
        <a:defRPr lang="en-GB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en-GB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en-GB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en-GB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en-GB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en-GB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en-GB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en-GB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en-GB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 b="0" dirty="0"/>
              <a:t>Banking System Testing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A0C8-E6A3-467D-D592-2BF65EB0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5248-1742-EC9B-1229-A30DFFE2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 dirty="0"/>
              <a:t>Team Members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FD438-8D46-610B-1748-E2A95C9E18F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9664411" cy="3638550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r>
              <a:rPr lang="en-GB" sz="2800" dirty="0"/>
              <a:t>23P0251 Lara Sherif Fathy</a:t>
            </a:r>
          </a:p>
          <a:p>
            <a:r>
              <a:rPr lang="en-GB" sz="2800" dirty="0"/>
              <a:t>23P0230 Farida Waleed El Sayed</a:t>
            </a:r>
          </a:p>
          <a:p>
            <a:r>
              <a:rPr lang="en-GB" sz="2800" dirty="0"/>
              <a:t>23P0379 Andrea Aziz Fathy</a:t>
            </a:r>
          </a:p>
          <a:p>
            <a:r>
              <a:rPr lang="en-GB" sz="2800" dirty="0"/>
              <a:t>23P0124 Fady Joseph Guirgis</a:t>
            </a:r>
          </a:p>
          <a:p>
            <a:r>
              <a:rPr lang="en-GB" sz="2800" dirty="0"/>
              <a:t>23P0234 Lina Tamer Yousri</a:t>
            </a:r>
          </a:p>
          <a:p>
            <a:r>
              <a:rPr lang="en-GB" sz="2800" dirty="0"/>
              <a:t>23P0325 Madonna Emad Labib</a:t>
            </a:r>
          </a:p>
        </p:txBody>
      </p:sp>
    </p:spTree>
    <p:extLst>
      <p:ext uri="{BB962C8B-B14F-4D97-AF65-F5344CB8AC3E}">
        <p14:creationId xmlns:p14="http://schemas.microsoft.com/office/powerpoint/2010/main" val="71395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5665-583F-4DD8-814D-FECA92009E9A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Black Box Testing</a:t>
            </a:r>
          </a:p>
        </p:txBody>
      </p:sp>
    </p:spTree>
    <p:extLst>
      <p:ext uri="{BB962C8B-B14F-4D97-AF65-F5344CB8AC3E}">
        <p14:creationId xmlns:p14="http://schemas.microsoft.com/office/powerpoint/2010/main" val="3869094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E76C-BC85-9034-D4FF-83DBF466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2518-1AA1-E6D5-5356-C4F4053D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br>
              <a:rPr lang="en-US" dirty="0"/>
            </a:br>
            <a:r>
              <a:rPr lang="en-GB" dirty="0"/>
              <a:t>Equivalence Partitioning</a:t>
            </a:r>
            <a:br>
              <a:rPr lang="en-GB" dirty="0"/>
            </a:b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DBF93E-BED9-5208-8A4B-4BBCCDB70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" y="2634401"/>
            <a:ext cx="10988506" cy="332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2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0AA1-D0F7-22F7-975E-27E976C4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3461-A430-684F-8E79-FB2A9A91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r>
              <a:rPr lang="en-US" dirty="0"/>
              <a:t>Boundary Value analysis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4B694-3250-728E-E22B-25C52B443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82" y="2508536"/>
            <a:ext cx="11170966" cy="323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0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E35B-38D7-600D-D0CB-CDEB5072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5DB6A-EEB7-B59E-18E2-0214A7A2D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1" y="1496291"/>
            <a:ext cx="10571998" cy="2433930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Tested everything matches requirements without depending on implementation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Example tests (Not full table)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5F41C5-0120-69DC-D1DF-283E49827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24" y="3630880"/>
            <a:ext cx="8926171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FDE2-FAEA-37D4-E9FB-656F4F8D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931B-4DC8-0E77-A11B-969B30720D53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White Box Testing</a:t>
            </a:r>
          </a:p>
        </p:txBody>
      </p:sp>
    </p:spTree>
    <p:extLst>
      <p:ext uri="{BB962C8B-B14F-4D97-AF65-F5344CB8AC3E}">
        <p14:creationId xmlns:p14="http://schemas.microsoft.com/office/powerpoint/2010/main" val="3797324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55C0-6AA7-E6A0-8D25-9F7C0405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143D-721E-C3DE-F3D0-73F05BE1B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497" y="1866027"/>
            <a:ext cx="10571998" cy="3638764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Tested all possible branches for both transactions (withdraw and deposit) and transfers between accounts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Used </a:t>
            </a:r>
            <a:r>
              <a:rPr lang="en-GB" dirty="0" err="1">
                <a:ea typeface="Tahoma" panose="020B0604030504040204" pitchFamily="34" charset="0"/>
                <a:cs typeface="Tahoma" panose="020B0604030504040204" pitchFamily="34" charset="0"/>
              </a:rPr>
              <a:t>TransferProcessor</a:t>
            </a:r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GB" dirty="0" err="1">
                <a:ea typeface="Tahoma" panose="020B0604030504040204" pitchFamily="34" charset="0"/>
                <a:cs typeface="Tahoma" panose="020B0604030504040204" pitchFamily="34" charset="0"/>
              </a:rPr>
              <a:t>TransactionProcessor</a:t>
            </a:r>
            <a:endParaRPr lang="en-GB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34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0F87-750A-C249-244D-D58F7BE1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23E8-C4F7-094D-1191-1F644AE5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 dirty="0"/>
              <a:t>CFGS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F8BAA79-C920-39D1-7851-92F4C5D6E7F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345" y="2270269"/>
            <a:ext cx="7997310" cy="41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7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692F3-AF20-F854-1E72-640F3769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2906-BF6E-F15E-C30B-40D48057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 dirty="0"/>
              <a:t>CFGS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CDC7D-8B4F-CF86-5F6A-8212AA00E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099" y="2382433"/>
            <a:ext cx="9434559" cy="380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8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7C99-3973-0FE3-AD17-C430E517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2012-09AD-DB85-111B-AD32E994D4C7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UI Testing</a:t>
            </a:r>
          </a:p>
        </p:txBody>
      </p:sp>
    </p:spTree>
    <p:extLst>
      <p:ext uri="{BB962C8B-B14F-4D97-AF65-F5344CB8AC3E}">
        <p14:creationId xmlns:p14="http://schemas.microsoft.com/office/powerpoint/2010/main" val="3287605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5FD3-E825-420F-8A22-D0B5F329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1" y="2246038"/>
            <a:ext cx="10571998" cy="4188525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Validated input constraints (non-numeric, zero, negative amounts).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Checked button enable/disable </a:t>
            </a:r>
            <a:r>
              <a:rPr lang="en-GB" dirty="0" err="1">
                <a:ea typeface="Tahoma" panose="020B0604030504040204" pitchFamily="34" charset="0"/>
                <a:cs typeface="Tahoma" panose="020B0604030504040204" pitchFamily="34" charset="0"/>
              </a:rPr>
              <a:t>behavior</a:t>
            </a:r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 based on account </a:t>
            </a:r>
            <a:r>
              <a:rPr lang="en-GB" dirty="0" err="1">
                <a:ea typeface="Tahoma" panose="020B0604030504040204" pitchFamily="34" charset="0"/>
                <a:cs typeface="Tahoma" panose="020B0604030504040204" pitchFamily="34" charset="0"/>
              </a:rPr>
              <a:t>state.Verified</a:t>
            </a:r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 correct error messages are displayed (e.g., insufficient funds).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Tested both JavaFX GUI logic and HTML dashboard script logic.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Ensured status and balance are rendered correctly.</a:t>
            </a:r>
          </a:p>
        </p:txBody>
      </p:sp>
    </p:spTree>
    <p:extLst>
      <p:ext uri="{BB962C8B-B14F-4D97-AF65-F5344CB8AC3E}">
        <p14:creationId xmlns:p14="http://schemas.microsoft.com/office/powerpoint/2010/main" val="1729462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44AF5-6ECD-F778-B600-16142B5C2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F001-1CEB-9075-50C2-BE6E2A83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 dirty="0"/>
              <a:t>Visual example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860FC-4452-58E2-746A-546D56A1C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74" y="2526662"/>
            <a:ext cx="3892628" cy="34680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973061-0C92-65E5-244A-361F7886BF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248" y="2526661"/>
            <a:ext cx="3892627" cy="3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8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2D64-8DC1-5C58-CB30-BE2900F7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B1A8-6CDB-CB25-5675-C0CB4EBD038C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State Testing</a:t>
            </a:r>
          </a:p>
        </p:txBody>
      </p:sp>
    </p:spTree>
    <p:extLst>
      <p:ext uri="{BB962C8B-B14F-4D97-AF65-F5344CB8AC3E}">
        <p14:creationId xmlns:p14="http://schemas.microsoft.com/office/powerpoint/2010/main" val="211665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C445-DC12-D648-207A-622471C8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BE7E-14C4-2DEA-8D38-F510E52F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 dirty="0"/>
              <a:t>State diagram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F54A8-B2F4-4689-F085-101451AF2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815" y="2983424"/>
            <a:ext cx="9678370" cy="262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DF337-9B2E-F08E-5E64-67117173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FFEA3-E0BA-774F-9911-E8167A1C0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861" y="880376"/>
            <a:ext cx="10571998" cy="4188525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Derived test cases from the account state diagram. And Verified allowed and blocked actions per state and Tested all state transitions</a:t>
            </a:r>
          </a:p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Example (Not all table)</a:t>
            </a:r>
            <a:endParaRPr lang="en-GB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85C68-E894-CEBE-69A7-A58145ECC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205" y="3981625"/>
            <a:ext cx="7047506" cy="28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86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106F-C3A1-1B73-A8E2-6EB338B2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1DEC-D1AB-322D-A459-7DB587B063E1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451514" y="594017"/>
            <a:ext cx="11288972" cy="5149187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TDD Testing</a:t>
            </a:r>
          </a:p>
        </p:txBody>
      </p:sp>
    </p:spTree>
    <p:extLst>
      <p:ext uri="{BB962C8B-B14F-4D97-AF65-F5344CB8AC3E}">
        <p14:creationId xmlns:p14="http://schemas.microsoft.com/office/powerpoint/2010/main" val="1541323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03A58-9D52-3939-D6DA-538E31FB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356F2-BE77-6B3A-065A-B83507C2F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1" y="2103532"/>
            <a:ext cx="10571998" cy="4188525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Designed tests for a new feature (Credit Score Check) before implementation.</a:t>
            </a:r>
          </a:p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Defined expected behavior and boundary conditions upfront.</a:t>
            </a:r>
          </a:p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Implemented minimal code to satisfy failing tests.</a:t>
            </a:r>
          </a:p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Used tests to validate correctness and prevent regressions.</a:t>
            </a:r>
          </a:p>
          <a:p>
            <a:pPr rtl="0"/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Reflected on improved design clarity and confidence.</a:t>
            </a:r>
            <a:endParaRPr lang="en-GB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4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90D5-5E6A-9D8E-DA5E-A7965F93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A3FD-43DA-5C78-C9D5-C4CA330CCF70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451514" y="594017"/>
            <a:ext cx="11288972" cy="5149187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Integration Testing</a:t>
            </a:r>
          </a:p>
        </p:txBody>
      </p:sp>
    </p:spTree>
    <p:extLst>
      <p:ext uri="{BB962C8B-B14F-4D97-AF65-F5344CB8AC3E}">
        <p14:creationId xmlns:p14="http://schemas.microsoft.com/office/powerpoint/2010/main" val="3461392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74385-F21B-CBA5-4D61-CCBAA4E7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0590-BA2E-3867-C193-415E1ADB0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1" y="2222286"/>
            <a:ext cx="10571998" cy="4188525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Simulated full user flows from GUI → Controller → Service → Account.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Verified controller responses for deposit, withdraw, and transfer actions.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Tested interaction between multiple accounts during transfer.</a:t>
            </a:r>
          </a:p>
          <a:p>
            <a:pPr rtl="0"/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Confirmed business rules propagate correctly across </a:t>
            </a:r>
            <a:r>
              <a:rPr lang="en-GB" dirty="0" err="1">
                <a:ea typeface="Tahoma" panose="020B0604030504040204" pitchFamily="34" charset="0"/>
                <a:cs typeface="Tahoma" panose="020B0604030504040204" pitchFamily="34" charset="0"/>
              </a:rPr>
              <a:t>layers.Validated</a:t>
            </a:r>
            <a:r>
              <a:rPr lang="en-GB" dirty="0">
                <a:ea typeface="Tahoma" panose="020B0604030504040204" pitchFamily="34" charset="0"/>
                <a:cs typeface="Tahoma" panose="020B0604030504040204" pitchFamily="34" charset="0"/>
              </a:rPr>
              <a:t> user-facing messages returned to the UI.</a:t>
            </a:r>
          </a:p>
        </p:txBody>
      </p:sp>
    </p:spTree>
    <p:extLst>
      <p:ext uri="{BB962C8B-B14F-4D97-AF65-F5344CB8AC3E}">
        <p14:creationId xmlns:p14="http://schemas.microsoft.com/office/powerpoint/2010/main" val="214832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E727-F26D-3EFD-DA19-D8A61DD2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A597-6215-D5AF-DD6F-401F43566B48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451514" y="594017"/>
            <a:ext cx="11288972" cy="5149187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38636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1_TF45182065_Win32" id="{27BF2B44-40E8-4770-837F-29C08368A7E8}" vid="{BD1F8CF4-58A2-446C-A784-F19528337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TotalTime>234</TotalTime>
  <Words>294</Words>
  <Application>Microsoft Office PowerPoint</Application>
  <PresentationFormat>Widescreen</PresentationFormat>
  <Paragraphs>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Tahoma</vt:lpstr>
      <vt:lpstr>Wingdings 2</vt:lpstr>
      <vt:lpstr>Quotable</vt:lpstr>
      <vt:lpstr>Banking System Testing</vt:lpstr>
      <vt:lpstr>Team Members</vt:lpstr>
      <vt:lpstr>Black Box Testing</vt:lpstr>
      <vt:lpstr> Equivalence Partitioning </vt:lpstr>
      <vt:lpstr>Boundary Value analysis</vt:lpstr>
      <vt:lpstr>PowerPoint Presentation</vt:lpstr>
      <vt:lpstr>White Box Testing</vt:lpstr>
      <vt:lpstr>PowerPoint Presentation</vt:lpstr>
      <vt:lpstr>CFGS</vt:lpstr>
      <vt:lpstr>CFGS</vt:lpstr>
      <vt:lpstr>UI Testing</vt:lpstr>
      <vt:lpstr>PowerPoint Presentation</vt:lpstr>
      <vt:lpstr>Visual example</vt:lpstr>
      <vt:lpstr>State Testing</vt:lpstr>
      <vt:lpstr>State diagram</vt:lpstr>
      <vt:lpstr>PowerPoint Presentation</vt:lpstr>
      <vt:lpstr>TDD Testing</vt:lpstr>
      <vt:lpstr>PowerPoint Presentation</vt:lpstr>
      <vt:lpstr>Integration Testing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 Sherif fathy Abdel Azim 23P0251</dc:creator>
  <cp:lastModifiedBy>Lara Sherif fathy Abdel Azim 23P0251</cp:lastModifiedBy>
  <cp:revision>6</cp:revision>
  <dcterms:created xsi:type="dcterms:W3CDTF">2025-12-31T17:51:16Z</dcterms:created>
  <dcterms:modified xsi:type="dcterms:W3CDTF">2025-12-31T21:45:42Z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